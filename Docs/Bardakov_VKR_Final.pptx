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58" r:id="rId5"/>
    <p:sldId id="259" r:id="rId6"/>
    <p:sldId id="264" r:id="rId7"/>
    <p:sldId id="261" r:id="rId8"/>
    <p:sldId id="263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4" d="100"/>
          <a:sy n="204" d="100"/>
        </p:scale>
        <p:origin x="56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митрий Бардаков" userId="56046afecdaba7d7" providerId="LiveId" clId="{FBD82FAF-E5AD-491E-A0EF-8E69CCA091C8}"/>
    <pc:docChg chg="undo redo custSel addSld delSld modSld sldOrd">
      <pc:chgData name="Дмитрий Бардаков" userId="56046afecdaba7d7" providerId="LiveId" clId="{FBD82FAF-E5AD-491E-A0EF-8E69CCA091C8}" dt="2026-04-19T23:16:23.509" v="115" actId="20577"/>
      <pc:docMkLst>
        <pc:docMk/>
      </pc:docMkLst>
      <pc:sldChg chg="delSp modSp mod">
        <pc:chgData name="Дмитрий Бардаков" userId="56046afecdaba7d7" providerId="LiveId" clId="{FBD82FAF-E5AD-491E-A0EF-8E69CCA091C8}" dt="2026-04-19T22:58:41.182" v="25" actId="14100"/>
        <pc:sldMkLst>
          <pc:docMk/>
          <pc:sldMk cId="0" sldId="257"/>
        </pc:sldMkLst>
        <pc:spChg chg="mod">
          <ac:chgData name="Дмитрий Бардаков" userId="56046afecdaba7d7" providerId="LiveId" clId="{FBD82FAF-E5AD-491E-A0EF-8E69CCA091C8}" dt="2026-04-19T22:57:37.503" v="4"/>
          <ac:spMkLst>
            <pc:docMk/>
            <pc:sldMk cId="0" sldId="257"/>
            <ac:spMk id="3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2:58:41.182" v="25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2:58:39.250" v="24" actId="1076"/>
          <ac:spMkLst>
            <pc:docMk/>
            <pc:sldMk cId="0" sldId="257"/>
            <ac:spMk id="7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7:24.038" v="0" actId="478"/>
          <ac:spMkLst>
            <pc:docMk/>
            <pc:sldMk cId="0" sldId="257"/>
            <ac:spMk id="22" creationId="{00000000-0000-0000-0000-000000000000}"/>
          </ac:spMkLst>
        </pc:spChg>
      </pc:sldChg>
      <pc:sldChg chg="addSp delSp modSp mod ord">
        <pc:chgData name="Дмитрий Бардаков" userId="56046afecdaba7d7" providerId="LiveId" clId="{FBD82FAF-E5AD-491E-A0EF-8E69CCA091C8}" dt="2026-04-19T23:01:33.168" v="57"/>
        <pc:sldMkLst>
          <pc:docMk/>
          <pc:sldMk cId="0" sldId="258"/>
        </pc:sldMkLst>
        <pc:spChg chg="mod">
          <ac:chgData name="Дмитрий Бардаков" userId="56046afecdaba7d7" providerId="LiveId" clId="{FBD82FAF-E5AD-491E-A0EF-8E69CCA091C8}" dt="2026-04-19T23:00:58.293" v="53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Дмитрий Бардаков" userId="56046afecdaba7d7" providerId="LiveId" clId="{FBD82FAF-E5AD-491E-A0EF-8E69CCA091C8}" dt="2026-04-19T23:01:13.158" v="55" actId="478"/>
          <ac:spMkLst>
            <pc:docMk/>
            <pc:sldMk cId="0" sldId="258"/>
            <ac:spMk id="6" creationId="{00000000-0000-0000-0000-000000000000}"/>
          </ac:spMkLst>
        </pc:spChg>
      </pc:sldChg>
      <pc:sldChg chg="modSp mod ord">
        <pc:chgData name="Дмитрий Бардаков" userId="56046afecdaba7d7" providerId="LiveId" clId="{FBD82FAF-E5AD-491E-A0EF-8E69CCA091C8}" dt="2026-04-19T23:03:54.557" v="64"/>
        <pc:sldMkLst>
          <pc:docMk/>
          <pc:sldMk cId="0" sldId="259"/>
        </pc:sldMkLst>
        <pc:spChg chg="mod">
          <ac:chgData name="Дмитрий Бардаков" userId="56046afecdaba7d7" providerId="LiveId" clId="{FBD82FAF-E5AD-491E-A0EF-8E69CCA091C8}" dt="2026-04-19T23:03:54.557" v="64"/>
          <ac:spMkLst>
            <pc:docMk/>
            <pc:sldMk cId="0" sldId="259"/>
            <ac:spMk id="3" creationId="{00000000-0000-0000-0000-000000000000}"/>
          </ac:spMkLst>
        </pc:spChg>
      </pc:sldChg>
      <pc:sldChg chg="delSp modSp mod">
        <pc:chgData name="Дмитрий Бардаков" userId="56046afecdaba7d7" providerId="LiveId" clId="{FBD82FAF-E5AD-491E-A0EF-8E69CCA091C8}" dt="2026-04-19T23:00:12.837" v="50" actId="14100"/>
        <pc:sldMkLst>
          <pc:docMk/>
          <pc:sldMk cId="0" sldId="260"/>
        </pc:sldMkLst>
        <pc:spChg chg="mod">
          <ac:chgData name="Дмитрий Бардаков" userId="56046afecdaba7d7" providerId="LiveId" clId="{FBD82FAF-E5AD-491E-A0EF-8E69CCA091C8}" dt="2026-04-19T22:59:02.818" v="30"/>
          <ac:spMkLst>
            <pc:docMk/>
            <pc:sldMk cId="0" sldId="260"/>
            <ac:spMk id="7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1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0:12.837" v="50" actId="14100"/>
          <ac:spMkLst>
            <pc:docMk/>
            <pc:sldMk cId="0" sldId="260"/>
            <ac:spMk id="16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46.920" v="41" actId="478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Дмитрий Бардаков" userId="56046afecdaba7d7" providerId="LiveId" clId="{FBD82FAF-E5AD-491E-A0EF-8E69CCA091C8}" dt="2026-04-19T23:00:02.852" v="47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45.937" v="40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49.122" v="42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49.122" v="42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50.669" v="43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49.122" v="42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49.122" v="42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52.055" v="44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2:59:57.951" v="45" actId="478"/>
          <ac:spMkLst>
            <pc:docMk/>
            <pc:sldMk cId="0" sldId="260"/>
            <ac:spMk id="26" creationId="{00000000-0000-0000-0000-000000000000}"/>
          </ac:spMkLst>
        </pc:spChg>
      </pc:sldChg>
      <pc:sldChg chg="delSp modSp mod">
        <pc:chgData name="Дмитрий Бардаков" userId="56046afecdaba7d7" providerId="LiveId" clId="{FBD82FAF-E5AD-491E-A0EF-8E69CCA091C8}" dt="2026-04-19T23:09:05.001" v="88" actId="1076"/>
        <pc:sldMkLst>
          <pc:docMk/>
          <pc:sldMk cId="0" sldId="261"/>
        </pc:sldMkLst>
        <pc:spChg chg="mod">
          <ac:chgData name="Дмитрий Бардаков" userId="56046afecdaba7d7" providerId="LiveId" clId="{FBD82FAF-E5AD-491E-A0EF-8E69CCA091C8}" dt="2026-04-19T23:09:05.001" v="88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9:05.001" v="88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9:05.001" v="88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9:05.001" v="8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46.858" v="85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46.858" v="85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46.858" v="85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46.858" v="85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5.299" v="8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5.299" v="86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5.299" v="86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5.299" v="86" actId="1076"/>
          <ac:spMkLst>
            <pc:docMk/>
            <pc:sldMk cId="0" sldId="261"/>
            <ac:spMk id="17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20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21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22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23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24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8:17.208" v="79" actId="478"/>
          <ac:spMkLst>
            <pc:docMk/>
            <pc:sldMk cId="0" sldId="261"/>
            <ac:spMk id="25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8.673" v="87" actId="107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8.673" v="87" actId="1076"/>
          <ac:spMkLst>
            <pc:docMk/>
            <pc:sldMk cId="0" sldId="261"/>
            <ac:spMk id="27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8.673" v="87" actId="107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08:58.673" v="87" actId="1076"/>
          <ac:spMkLst>
            <pc:docMk/>
            <pc:sldMk cId="0" sldId="261"/>
            <ac:spMk id="29" creationId="{00000000-0000-0000-0000-000000000000}"/>
          </ac:spMkLst>
        </pc:spChg>
      </pc:sldChg>
      <pc:sldChg chg="del">
        <pc:chgData name="Дмитрий Бардаков" userId="56046afecdaba7d7" providerId="LiveId" clId="{FBD82FAF-E5AD-491E-A0EF-8E69CCA091C8}" dt="2026-04-19T23:11:45.305" v="101" actId="47"/>
        <pc:sldMkLst>
          <pc:docMk/>
          <pc:sldMk cId="0" sldId="262"/>
        </pc:sldMkLst>
      </pc:sldChg>
      <pc:sldChg chg="delSp mod ord">
        <pc:chgData name="Дмитрий Бардаков" userId="56046afecdaba7d7" providerId="LiveId" clId="{FBD82FAF-E5AD-491E-A0EF-8E69CCA091C8}" dt="2026-04-19T23:10:39.656" v="93" actId="478"/>
        <pc:sldMkLst>
          <pc:docMk/>
          <pc:sldMk cId="0" sldId="263"/>
        </pc:sldMkLst>
        <pc:spChg chg="del">
          <ac:chgData name="Дмитрий Бардаков" userId="56046afecdaba7d7" providerId="LiveId" clId="{FBD82FAF-E5AD-491E-A0EF-8E69CCA091C8}" dt="2026-04-19T23:10:39.656" v="93" actId="478"/>
          <ac:spMkLst>
            <pc:docMk/>
            <pc:sldMk cId="0" sldId="263"/>
            <ac:spMk id="20" creationId="{00000000-0000-0000-0000-000000000000}"/>
          </ac:spMkLst>
        </pc:spChg>
      </pc:sldChg>
      <pc:sldChg chg="delSp mod ord">
        <pc:chgData name="Дмитрий Бардаков" userId="56046afecdaba7d7" providerId="LiveId" clId="{FBD82FAF-E5AD-491E-A0EF-8E69CCA091C8}" dt="2026-04-19T23:04:45.669" v="67" actId="478"/>
        <pc:sldMkLst>
          <pc:docMk/>
          <pc:sldMk cId="0" sldId="264"/>
        </pc:sldMkLst>
        <pc:spChg chg="del">
          <ac:chgData name="Дмитрий Бардаков" userId="56046afecdaba7d7" providerId="LiveId" clId="{FBD82FAF-E5AD-491E-A0EF-8E69CCA091C8}" dt="2026-04-19T23:04:45.669" v="67" actId="478"/>
          <ac:spMkLst>
            <pc:docMk/>
            <pc:sldMk cId="0" sldId="264"/>
            <ac:spMk id="21" creationId="{00000000-0000-0000-0000-000000000000}"/>
          </ac:spMkLst>
        </pc:spChg>
      </pc:sldChg>
      <pc:sldChg chg="delSp modSp mod ord">
        <pc:chgData name="Дмитрий Бардаков" userId="56046afecdaba7d7" providerId="LiveId" clId="{FBD82FAF-E5AD-491E-A0EF-8E69CCA091C8}" dt="2026-04-19T23:11:11.640" v="100" actId="14100"/>
        <pc:sldMkLst>
          <pc:docMk/>
          <pc:sldMk cId="0" sldId="265"/>
        </pc:sldMkLst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9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8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1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4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5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6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7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8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29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30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31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33" creationId="{00000000-0000-0000-0000-000000000000}"/>
          </ac:spMkLst>
        </pc:spChg>
        <pc:spChg chg="mod">
          <ac:chgData name="Дмитрий Бардаков" userId="56046afecdaba7d7" providerId="LiveId" clId="{FBD82FAF-E5AD-491E-A0EF-8E69CCA091C8}" dt="2026-04-19T23:11:11.640" v="100" actId="14100"/>
          <ac:spMkLst>
            <pc:docMk/>
            <pc:sldMk cId="0" sldId="265"/>
            <ac:spMk id="34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10:48.821" v="94" actId="478"/>
          <ac:spMkLst>
            <pc:docMk/>
            <pc:sldMk cId="0" sldId="265"/>
            <ac:spMk id="35" creationId="{00000000-0000-0000-0000-000000000000}"/>
          </ac:spMkLst>
        </pc:spChg>
      </pc:sldChg>
      <pc:sldChg chg="delSp modSp mod">
        <pc:chgData name="Дмитрий Бардаков" userId="56046afecdaba7d7" providerId="LiveId" clId="{FBD82FAF-E5AD-491E-A0EF-8E69CCA091C8}" dt="2026-04-19T23:12:31.536" v="103" actId="20577"/>
        <pc:sldMkLst>
          <pc:docMk/>
          <pc:sldMk cId="0" sldId="266"/>
        </pc:sldMkLst>
        <pc:spChg chg="mod">
          <ac:chgData name="Дмитрий Бардаков" userId="56046afecdaba7d7" providerId="LiveId" clId="{FBD82FAF-E5AD-491E-A0EF-8E69CCA091C8}" dt="2026-04-19T23:12:31.536" v="103" actId="20577"/>
          <ac:spMkLst>
            <pc:docMk/>
            <pc:sldMk cId="0" sldId="266"/>
            <ac:spMk id="20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11:49.765" v="102" actId="478"/>
          <ac:spMkLst>
            <pc:docMk/>
            <pc:sldMk cId="0" sldId="266"/>
            <ac:spMk id="31" creationId="{00000000-0000-0000-0000-000000000000}"/>
          </ac:spMkLst>
        </pc:spChg>
      </pc:sldChg>
      <pc:sldChg chg="delSp modSp mod">
        <pc:chgData name="Дмитрий Бардаков" userId="56046afecdaba7d7" providerId="LiveId" clId="{FBD82FAF-E5AD-491E-A0EF-8E69CCA091C8}" dt="2026-04-19T23:16:23.509" v="115" actId="20577"/>
        <pc:sldMkLst>
          <pc:docMk/>
          <pc:sldMk cId="0" sldId="267"/>
        </pc:sldMkLst>
        <pc:spChg chg="mod">
          <ac:chgData name="Дмитрий Бардаков" userId="56046afecdaba7d7" providerId="LiveId" clId="{FBD82FAF-E5AD-491E-A0EF-8E69CCA091C8}" dt="2026-04-19T23:16:23.509" v="115" actId="20577"/>
          <ac:spMkLst>
            <pc:docMk/>
            <pc:sldMk cId="0" sldId="267"/>
            <ac:spMk id="15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12:45.821" v="104" actId="478"/>
          <ac:spMkLst>
            <pc:docMk/>
            <pc:sldMk cId="0" sldId="267"/>
            <ac:spMk id="22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12:45.821" v="104" actId="478"/>
          <ac:spMkLst>
            <pc:docMk/>
            <pc:sldMk cId="0" sldId="267"/>
            <ac:spMk id="23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12:45.821" v="104" actId="478"/>
          <ac:spMkLst>
            <pc:docMk/>
            <pc:sldMk cId="0" sldId="267"/>
            <ac:spMk id="24" creationId="{00000000-0000-0000-0000-000000000000}"/>
          </ac:spMkLst>
        </pc:spChg>
      </pc:sldChg>
      <pc:sldChg chg="delSp modSp add del mod ord setBg">
        <pc:chgData name="Дмитрий Бардаков" userId="56046afecdaba7d7" providerId="LiveId" clId="{FBD82FAF-E5AD-491E-A0EF-8E69CCA091C8}" dt="2026-04-19T23:06:41.778" v="78" actId="47"/>
        <pc:sldMkLst>
          <pc:docMk/>
          <pc:sldMk cId="728183474" sldId="268"/>
        </pc:sldMkLst>
        <pc:spChg chg="mod">
          <ac:chgData name="Дмитрий Бардаков" userId="56046afecdaba7d7" providerId="LiveId" clId="{FBD82FAF-E5AD-491E-A0EF-8E69CCA091C8}" dt="2026-04-19T23:05:43.779" v="73"/>
          <ac:spMkLst>
            <pc:docMk/>
            <pc:sldMk cId="728183474" sldId="268"/>
            <ac:spMk id="3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5:45.412" v="74" actId="478"/>
          <ac:spMkLst>
            <pc:docMk/>
            <pc:sldMk cId="728183474" sldId="268"/>
            <ac:spMk id="6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5:47.173" v="75" actId="478"/>
          <ac:spMkLst>
            <pc:docMk/>
            <pc:sldMk cId="728183474" sldId="268"/>
            <ac:spMk id="19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5:49.531" v="76" actId="478"/>
          <ac:spMkLst>
            <pc:docMk/>
            <pc:sldMk cId="728183474" sldId="268"/>
            <ac:spMk id="20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5:49.531" v="76" actId="478"/>
          <ac:spMkLst>
            <pc:docMk/>
            <pc:sldMk cId="728183474" sldId="268"/>
            <ac:spMk id="21" creationId="{00000000-0000-0000-0000-000000000000}"/>
          </ac:spMkLst>
        </pc:spChg>
        <pc:spChg chg="del">
          <ac:chgData name="Дмитрий Бардаков" userId="56046afecdaba7d7" providerId="LiveId" clId="{FBD82FAF-E5AD-491E-A0EF-8E69CCA091C8}" dt="2026-04-19T23:05:51.888" v="77" actId="478"/>
          <ac:spMkLst>
            <pc:docMk/>
            <pc:sldMk cId="728183474" sldId="268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420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Алтайский государственный университет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 математики и информационных технологий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информатики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C9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алгоритмического обеспечения и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данных для автоматизированного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формирования учебного расписания университета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3337560"/>
            <a:ext cx="27432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204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Бардаков Дмитрий Александрович, гр. 4.205-2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587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Науч. руководитель: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 (степень, звание, Ф.И.О.)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1879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Зав. кафедрой: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к.т.н., доцент Козлов Денис Юрьевич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Барнаул,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автоматизации расписания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59" y="822960"/>
            <a:ext cx="7015089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учебного расписания — одна из ключевых административных задач университета.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82905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расписания — NP-трудная комбинаторная задача, требующая учета сотен ограничений.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ru-RU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АлтГУ</a:t>
            </a:r>
            <a:r>
              <a:rPr lang="ru-RU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процесс формирования ведется преимущественно вручную с использованием макросов VBA начала 2000-х годов.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ru-RU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Существующий подход не отвечает современным требованиям к скорости, качеству и прозрачности планирования.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работы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7772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серверной части системы, разработка структур данных и алгоритмического обеспечения для генерации расписания.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41932"/>
            <a:ext cx="38404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419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9621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 предметной области и математическая постановка задачи.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308860"/>
            <a:ext cx="38404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2631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нормализованной реляционной БД (</a:t>
            </a:r>
            <a:r>
              <a:rPr lang="ru-RU" sz="12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r>
              <a:rPr lang="ru-RU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75788"/>
            <a:ext cx="384048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757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8300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алгоритма оптимизации на базе программирования в ограничениях.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текущего процесса планирования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специализированного инструмента для автоматизации составления расписания в АлтГУ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6052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416052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и коллизии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нормализованной реляционной модели данных приводит к пересечениям занятий при параллельном редактировании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6052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416052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544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Устаревший инструментарий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Excel-таблицы и VBA-макросы начала 2000-х — риски потери данных, нет поддержки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154680"/>
            <a:ext cx="416052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154680"/>
            <a:ext cx="416052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 оптимизации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не позволяет применять современные методы комбинаторной оптимизации для учёта сложных перекрёстных ограничений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160520" cy="150876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154680"/>
            <a:ext cx="416052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Низкое качество расписания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611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'Окна' у студентов и преподавателей, нерациональное использование аудиторного фонда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существующих решений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22960"/>
          <a:ext cx="8503920" cy="2514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Алгоритм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Ключевой недостаток для АлтГУ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1С: Расписание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Отеч.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Жадный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Конфликты при многопользовательской записи; низкое качество генерации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Апекс-ВУЗ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Отеч.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Весовой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 интеграции с ММИС; значительные затраты на адаптацию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Зарубеж.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Высокий порог развёртывания; нет готовой интеграции с отеч. системами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Зарубеж.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Рекурсия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Настольное приложение: нет многопользовательской работы и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886200"/>
            <a:ext cx="8503920" cy="640080"/>
          </a:xfrm>
          <a:prstGeom prst="rect">
            <a:avLst/>
          </a:prstGeom>
          <a:solidFill>
            <a:srgbClr val="E8EEF7"/>
          </a:solidFill>
          <a:ln/>
        </p:spPr>
        <p:txBody>
          <a:bodyPr wrap="square" lIns="50800" tIns="101600" rIns="1016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ни одно решение не интегрируется с ММИС и не адаптировано под регламенты АлтГУ →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обоснована разработка собственной специализированной системы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Формализация системы ограничений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42062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ограничения (7)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16152"/>
            <a:ext cx="4206240" cy="365760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07592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пересечений: преподаватель / группа / аудитория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преподавателя (расписание и ставка)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аудитории в временной слот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оборудования требованиям занятия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обучения для группы (1-я или 2-я)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более 4 пар в день для группы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времени перемещения между корпусами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069080" cy="38404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Мягкие ограничения (3)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06908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Параллельность подгрупп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16733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Подгруппы одной дисциплины — в один слот, но в разных аудиториях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4069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487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Двойная пара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28620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 ставятся двумя парами подряд в один день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3611880"/>
            <a:ext cx="406908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675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Предпочтительный корпус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92040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 размещается в аудитории корпуса кафедры; другие — штрафуются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 и архитектура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040" y="946404"/>
            <a:ext cx="27432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040" y="946404"/>
            <a:ext cx="64008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632" y="117500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ASP.NET 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4632" y="190652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часть, REST API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15132" y="925830"/>
            <a:ext cx="27432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5132" y="925830"/>
            <a:ext cx="64008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9724" y="115443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(CP-SAT)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79724" y="188595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автогенерации расписания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15132" y="2880360"/>
            <a:ext cx="27432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15132" y="2880360"/>
            <a:ext cx="64008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79724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EF 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79724" y="3840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данных, транзакции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50040" y="2880360"/>
            <a:ext cx="27432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040" y="2880360"/>
            <a:ext cx="64008" cy="1645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632" y="3108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14632" y="3840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Расширяемая структура проекта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базы данных PostgreSQL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7889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Аудиторный фонд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278892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· room_equipment · room_unavailabilities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8892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Учебная нагрузка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278892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· groups · subgroups · lessons · teacher_unavailabilities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788920" cy="9144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783080"/>
            <a:ext cx="2788920" cy="640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· schedule_entries · time_slots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606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технические решения: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Entity Framework Core — типобезопасная работа с данными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с изоляцией SERIALIZABLE — исключают коллизии при параллельной записи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схемы — версионируемые изменения структуры БД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Нормализованная реляционная модель — отсутствие дублирования данных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автоматического составления расписания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0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822960"/>
            <a:ext cx="781812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86868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данные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86868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Занятия, преподаватели, группы, аудитории, ограничения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2167128"/>
            <a:ext cx="0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600200"/>
            <a:ext cx="7818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64592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CP-SAT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164592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Булевы переменные x[занятие, слот, аудитория] ∈ {0, 1}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42316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2944368"/>
            <a:ext cx="0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2377440"/>
            <a:ext cx="781812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4231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ограничений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24231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→ запреты; мягкие → штрафы в целевой функции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200400"/>
            <a:ext cx="502920" cy="5029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" y="3721608"/>
            <a:ext cx="0" cy="246888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3154680"/>
            <a:ext cx="78181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2004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Решатель OR-Tools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32004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Распространение ограничений + поиск с возвратом + эвристики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502920" cy="502920"/>
          </a:xfrm>
          <a:prstGeom prst="ellipse">
            <a:avLst/>
          </a:prstGeom>
          <a:solidFill>
            <a:srgbClr val="1F7A3B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05840" y="3931920"/>
            <a:ext cx="781812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97764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39776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Оптимальное расписание: минимум нарушений мягких при 100% соблюдении жёстких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системы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850392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475488" cy="658368"/>
          </a:xfrm>
          <a:prstGeom prst="rect">
            <a:avLst/>
          </a:prstGeom>
          <a:solidFill>
            <a:srgbClr val="1F7A3B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2296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86868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Модульные тесты (xUnit)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868680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ограничение покрыто отдельными тестами; изолированная проверка бизнес-правил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72768"/>
            <a:ext cx="475488" cy="658368"/>
          </a:xfrm>
          <a:prstGeom prst="rect">
            <a:avLst/>
          </a:prstGeom>
          <a:solidFill>
            <a:srgbClr val="1F7A3B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5727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6184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Интеграционные тесты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11880" y="161848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 модулей: БД ↔ API ↔ OR-Tools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22576"/>
            <a:ext cx="850392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22576"/>
            <a:ext cx="475488" cy="658368"/>
          </a:xfrm>
          <a:prstGeom prst="rect">
            <a:avLst/>
          </a:prstGeom>
          <a:solidFill>
            <a:srgbClr val="1F7A3B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2257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368296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расписания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11880" y="236829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Успешная автогенерация на тестовом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наборе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07238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72384"/>
            <a:ext cx="475488" cy="658368"/>
          </a:xfrm>
          <a:prstGeom prst="rect">
            <a:avLst/>
          </a:prstGeom>
          <a:solidFill>
            <a:srgbClr val="1F7A3B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7238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1181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Жёсткие ограничения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11880" y="311810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нарушений в итоговом расписании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850392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22192"/>
            <a:ext cx="475488" cy="658368"/>
          </a:xfrm>
          <a:prstGeom prst="rect">
            <a:avLst/>
          </a:prstGeom>
          <a:solidFill>
            <a:srgbClr val="1F7A3B"/>
          </a:solidFill>
          <a:ln w="12700">
            <a:solidFill>
              <a:srgbClr val="1F7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8221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38679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Многопользовательская работа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11880" y="386791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 PostgreSQL исключают конфликты при параллельной записи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ходе работы выполнено: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89304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9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234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анализ предметной области; формализована система из 7 жёстких и 3 мягких ограничений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837944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Спроектирована нормализованная БД PostgreSQL, охватывающая все сущности предметной области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386584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331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доменный слой (C#, Clean Architecture): бизнес-сущности и </a:t>
            </a:r>
            <a:r>
              <a:rPr lang="ru-RU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35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880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модуль автоматической генерации расписания на Google OR-Tools (CP-SAT)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3483864"/>
            <a:ext cx="34747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REST API для управления расписанием и аудиторным фондом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 Готов ответить на вопросы.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759</Words>
  <Application>Microsoft Office PowerPoint</Application>
  <PresentationFormat>Экран 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Дмитрий Бардаков</cp:lastModifiedBy>
  <cp:revision>1</cp:revision>
  <dcterms:created xsi:type="dcterms:W3CDTF">2026-04-19T21:12:47Z</dcterms:created>
  <dcterms:modified xsi:type="dcterms:W3CDTF">2026-04-20T02:31:42Z</dcterms:modified>
</cp:coreProperties>
</file>